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8" r:id="rId16"/>
    <p:sldId id="270" r:id="rId17"/>
    <p:sldId id="280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DCC9D-5645-42FB-84B7-7E8D2C8ED432}" v="272" dt="2026-05-13T20:36:37.770"/>
    <p1510:client id="{99E634B5-5786-2C74-7B61-D06FDA23AE50}" v="132" dt="2026-05-13T21:57:02.982"/>
    <p1510:client id="{AB12D4EE-3C43-0CA6-21DE-784A97E7A2F4}" v="99" dt="2026-05-14T05:53:03.930"/>
    <p1510:client id="{B0CD25F7-F6B5-260B-3EA4-8E62AC84FA10}" v="176" dt="2026-05-14T00:16:21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8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3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F0FC6-D54B-43DE-AFEC-1A5D1AFFC0A7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1824B-9FB3-4666-A544-E6F760165A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68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F1824B-9FB3-4666-A544-E6F760165AE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7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23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98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65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05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992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041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3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56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876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55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28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D2E2-2307-4CAE-AE0F-A325FD4D4B38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05879-CE2A-4109-9FD2-9B040EBAC79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18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06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 txBox="1">
            <a:spLocks/>
          </p:cNvSpPr>
          <p:nvPr/>
        </p:nvSpPr>
        <p:spPr>
          <a:xfrm>
            <a:off x="1571722" y="2469368"/>
            <a:ext cx="9144000" cy="14426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>
                <a:latin typeface="Corbel"/>
              </a:rPr>
              <a:t>Курсовой проект</a:t>
            </a:r>
            <a:br>
              <a:rPr lang="ru-RU" sz="3600" dirty="0"/>
            </a:br>
            <a:r>
              <a:rPr lang="ru-RU" sz="3600">
                <a:latin typeface="Corbel"/>
              </a:rPr>
              <a:t>на тему «Проетирование ИС Ресторана»</a:t>
            </a:r>
            <a:endParaRPr lang="ru-RU" sz="3600"/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6996392" y="4274194"/>
            <a:ext cx="4850296" cy="16517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>
                <a:latin typeface="Corbel"/>
              </a:rPr>
              <a:t>Выполнил: Яперов И.Д.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студент 1 курса очной формы обучения, 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группы ИСиП 25-11-1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2000" kern="1100" dirty="0"/>
              <a:t>Проверила: Гончарова Т.В., должность: преподаватель проф. дисциплин</a:t>
            </a:r>
          </a:p>
          <a:p>
            <a:endParaRPr lang="ru-RU" sz="18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3143" y="303793"/>
            <a:ext cx="1098731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ГОСУДАРСТВЕННОЕ АВТОНОМНОЕ ПРОФЕССИОНАЛЬНОЕ ОБРАЗОВАТЕЛЬНОЕ </a:t>
            </a:r>
          </a:p>
          <a:p>
            <a:pPr algn="ctr"/>
            <a:r>
              <a:rPr lang="ru-RU" sz="2000" dirty="0"/>
              <a:t>УЧРЕЖДЕНИЕ  ТЮМЕНСКОЙ ОБЛАСТИ </a:t>
            </a:r>
          </a:p>
          <a:p>
            <a:pPr algn="ctr"/>
            <a:r>
              <a:rPr lang="ru-RU" sz="2000" dirty="0"/>
              <a:t>«ТЮМЕНСКИЙ ТЕХНИКУМ СТРОИТЕЛЬНОЙ ИНДУСТРИИ И ГОРОДСКОГО ХОЗЯЙСТВА»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096801" y="6288156"/>
            <a:ext cx="20938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+mj-lt"/>
              </a:rPr>
              <a:t>г. Тюмень, 2026 г.</a:t>
            </a:r>
          </a:p>
        </p:txBody>
      </p:sp>
    </p:spTree>
    <p:extLst>
      <p:ext uri="{BB962C8B-B14F-4D97-AF65-F5344CB8AC3E}">
        <p14:creationId xmlns:p14="http://schemas.microsoft.com/office/powerpoint/2010/main" val="141091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5431" y="668600"/>
            <a:ext cx="7729728" cy="785731"/>
          </a:xfrm>
        </p:spPr>
        <p:txBody>
          <a:bodyPr/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Описание предметной области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9726" y="1706881"/>
            <a:ext cx="7801138" cy="431182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ru-RU" sz="1200" b="1" dirty="0">
              <a:solidFill>
                <a:srgbClr val="F9FAFB"/>
              </a:solidFill>
              <a:highlight>
                <a:srgbClr val="151517"/>
              </a:highlight>
            </a:endParaRPr>
          </a:p>
          <a:p>
            <a:pPr marL="0" indent="0">
              <a:buNone/>
            </a:pPr>
            <a:r>
              <a:rPr lang="ru-RU">
                <a:ea typeface="+mn-lt"/>
                <a:cs typeface="+mn-lt"/>
              </a:rPr>
              <a:t>Предметной областью курсового проекта является деятельность ресторана, предоставляющего услуги общественного питания (горячие блюда, холодные закуски, напитки, десерты) для физических лиц. Ключевым бизнес-процессом, рассматриваемым в рамках автоматизации, является регистрация заказа гостя – от момента выбора блюда и столика до подтверждения заказа, передачи на кухню и формирования фискального чека.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880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0013" y="-1355"/>
            <a:ext cx="7932637" cy="1624777"/>
          </a:xfrm>
        </p:spPr>
        <p:txBody>
          <a:bodyPr/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Проблематика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42714" y="656529"/>
            <a:ext cx="7757604" cy="209690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ru-RU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1. Ручной </a:t>
            </a:r>
            <a:r>
              <a:rPr lang="en-US" sz="1800" dirty="0" err="1">
                <a:ea typeface="+mn-lt"/>
                <a:cs typeface="+mn-lt"/>
              </a:rPr>
              <a:t>приём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заказов</a:t>
            </a:r>
            <a:r>
              <a:rPr lang="en-US" sz="1800" dirty="0">
                <a:ea typeface="+mn-lt"/>
                <a:cs typeface="+mn-lt"/>
              </a:rPr>
              <a:t>. Гости </a:t>
            </a:r>
            <a:r>
              <a:rPr lang="en-US" sz="1800" dirty="0" err="1">
                <a:ea typeface="+mn-lt"/>
                <a:cs typeface="+mn-lt"/>
              </a:rPr>
              <a:t>звонят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или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делают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заказ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на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месте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официант</a:t>
            </a:r>
            <a:r>
              <a:rPr lang="en-US" sz="1800" dirty="0">
                <a:ea typeface="+mn-lt"/>
                <a:cs typeface="+mn-lt"/>
              </a:rPr>
              <a:t>/</a:t>
            </a:r>
            <a:r>
              <a:rPr lang="en-US" sz="1800" dirty="0" err="1">
                <a:ea typeface="+mn-lt"/>
                <a:cs typeface="+mn-lt"/>
              </a:rPr>
              <a:t>администратор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записывает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заказ</a:t>
            </a:r>
            <a:r>
              <a:rPr lang="en-US" sz="1800" dirty="0">
                <a:ea typeface="+mn-lt"/>
                <a:cs typeface="+mn-lt"/>
              </a:rPr>
              <a:t> в </a:t>
            </a:r>
            <a:r>
              <a:rPr lang="en-US" sz="1800" dirty="0" err="1">
                <a:ea typeface="+mn-lt"/>
                <a:cs typeface="+mn-lt"/>
              </a:rPr>
              <a:t>бумажный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блокнот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или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на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листок</a:t>
            </a:r>
            <a:r>
              <a:rPr lang="en-US" sz="1800" dirty="0">
                <a:ea typeface="+mn-lt"/>
                <a:cs typeface="+mn-lt"/>
              </a:rPr>
              <a:t>. </a:t>
            </a:r>
            <a:r>
              <a:rPr lang="en-US" sz="1800" dirty="0" err="1">
                <a:ea typeface="+mn-lt"/>
                <a:cs typeface="+mn-lt"/>
              </a:rPr>
              <a:t>На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одного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гостя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уходит</a:t>
            </a:r>
            <a:r>
              <a:rPr lang="en-US" sz="1800" dirty="0">
                <a:ea typeface="+mn-lt"/>
                <a:cs typeface="+mn-lt"/>
              </a:rPr>
              <a:t> 5–10 </a:t>
            </a:r>
            <a:r>
              <a:rPr lang="en-US" sz="1800" dirty="0" err="1">
                <a:ea typeface="+mn-lt"/>
                <a:cs typeface="+mn-lt"/>
              </a:rPr>
              <a:t>минут</a:t>
            </a:r>
            <a:r>
              <a:rPr lang="en-US" sz="1800" dirty="0">
                <a:ea typeface="+mn-lt"/>
                <a:cs typeface="+mn-lt"/>
              </a:rPr>
              <a:t>, в </a:t>
            </a:r>
            <a:r>
              <a:rPr lang="en-US" sz="1800" dirty="0" err="1">
                <a:ea typeface="+mn-lt"/>
                <a:cs typeface="+mn-lt"/>
              </a:rPr>
              <a:t>часы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пик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возникают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очереди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на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оформление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заказа</a:t>
            </a:r>
            <a:r>
              <a:rPr lang="en-US" sz="1800" dirty="0">
                <a:ea typeface="+mn-lt"/>
                <a:cs typeface="+mn-lt"/>
              </a:rPr>
              <a:t>.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2. </a:t>
            </a:r>
            <a:r>
              <a:rPr lang="en-US" sz="1800" dirty="0" err="1">
                <a:ea typeface="+mn-lt"/>
                <a:cs typeface="+mn-lt"/>
              </a:rPr>
              <a:t>Конфликты</a:t>
            </a:r>
            <a:r>
              <a:rPr lang="en-US" sz="1800" dirty="0">
                <a:ea typeface="+mn-lt"/>
                <a:cs typeface="+mn-lt"/>
              </a:rPr>
              <a:t> в </a:t>
            </a:r>
            <a:r>
              <a:rPr lang="en-US" sz="1800" dirty="0" err="1">
                <a:ea typeface="+mn-lt"/>
                <a:cs typeface="+mn-lt"/>
              </a:rPr>
              <a:t>распределении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столов</a:t>
            </a:r>
            <a:r>
              <a:rPr lang="en-US" sz="1800" dirty="0">
                <a:ea typeface="+mn-lt"/>
                <a:cs typeface="+mn-lt"/>
              </a:rPr>
              <a:t>. При </a:t>
            </a:r>
            <a:r>
              <a:rPr lang="en-US" sz="1800" dirty="0" err="1">
                <a:ea typeface="+mn-lt"/>
                <a:cs typeface="+mn-lt"/>
              </a:rPr>
              <a:t>ручном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учёте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легко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посадить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двух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гостей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один</a:t>
            </a:r>
            <a:r>
              <a:rPr lang="en-US" sz="1800" dirty="0">
                <a:ea typeface="+mn-lt"/>
                <a:cs typeface="+mn-lt"/>
              </a:rPr>
              <a:t> и </a:t>
            </a:r>
            <a:r>
              <a:rPr lang="en-US" sz="1800" dirty="0" err="1">
                <a:ea typeface="+mn-lt"/>
                <a:cs typeface="+mn-lt"/>
              </a:rPr>
              <a:t>тот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же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стол</a:t>
            </a:r>
            <a:r>
              <a:rPr lang="en-US" sz="1800" dirty="0">
                <a:ea typeface="+mn-lt"/>
                <a:cs typeface="+mn-lt"/>
              </a:rPr>
              <a:t> в </a:t>
            </a:r>
            <a:r>
              <a:rPr lang="en-US" sz="1800" dirty="0" err="1">
                <a:ea typeface="+mn-lt"/>
                <a:cs typeface="+mn-lt"/>
              </a:rPr>
              <a:t>одно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время</a:t>
            </a:r>
            <a:r>
              <a:rPr lang="en-US" sz="1800" dirty="0">
                <a:ea typeface="+mn-lt"/>
                <a:cs typeface="+mn-lt"/>
              </a:rPr>
              <a:t>. Это </a:t>
            </a:r>
            <a:r>
              <a:rPr lang="en-US" sz="1800" dirty="0" err="1">
                <a:ea typeface="+mn-lt"/>
                <a:cs typeface="+mn-lt"/>
              </a:rPr>
              <a:t>приводит</a:t>
            </a:r>
            <a:r>
              <a:rPr lang="en-US" sz="1800" dirty="0">
                <a:ea typeface="+mn-lt"/>
                <a:cs typeface="+mn-lt"/>
              </a:rPr>
              <a:t> к </a:t>
            </a:r>
            <a:r>
              <a:rPr lang="en-US" sz="1800" dirty="0" err="1">
                <a:ea typeface="+mn-lt"/>
                <a:cs typeface="+mn-lt"/>
              </a:rPr>
              <a:t>недовольству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гостей</a:t>
            </a:r>
            <a:r>
              <a:rPr lang="en-US" sz="1800" dirty="0">
                <a:ea typeface="+mn-lt"/>
                <a:cs typeface="+mn-lt"/>
              </a:rPr>
              <a:t> и </a:t>
            </a:r>
            <a:r>
              <a:rPr lang="en-US" sz="1800" dirty="0" err="1">
                <a:ea typeface="+mn-lt"/>
                <a:cs typeface="+mn-lt"/>
              </a:rPr>
              <a:t>потере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репутации</a:t>
            </a:r>
            <a:r>
              <a:rPr lang="en-US" sz="1800" dirty="0">
                <a:ea typeface="+mn-lt"/>
                <a:cs typeface="+mn-lt"/>
              </a:rPr>
              <a:t>.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3. Потеря </a:t>
            </a:r>
            <a:r>
              <a:rPr lang="en-US" sz="1800" dirty="0" err="1">
                <a:ea typeface="+mn-lt"/>
                <a:cs typeface="+mn-lt"/>
              </a:rPr>
              <a:t>данных</a:t>
            </a:r>
            <a:r>
              <a:rPr lang="en-US" sz="1800" dirty="0">
                <a:ea typeface="+mn-lt"/>
                <a:cs typeface="+mn-lt"/>
              </a:rPr>
              <a:t> о </a:t>
            </a:r>
            <a:r>
              <a:rPr lang="en-US" sz="1800" dirty="0" err="1">
                <a:ea typeface="+mn-lt"/>
                <a:cs typeface="+mn-lt"/>
              </a:rPr>
              <a:t>заказах</a:t>
            </a:r>
            <a:r>
              <a:rPr lang="en-US" sz="1800" dirty="0">
                <a:ea typeface="+mn-lt"/>
                <a:cs typeface="+mn-lt"/>
              </a:rPr>
              <a:t>. Бумажные </a:t>
            </a:r>
            <a:r>
              <a:rPr lang="en-US" sz="1800" dirty="0" err="1">
                <a:ea typeface="+mn-lt"/>
                <a:cs typeface="+mn-lt"/>
              </a:rPr>
              <a:t>чеки</a:t>
            </a:r>
            <a:r>
              <a:rPr lang="en-US" sz="1800" dirty="0">
                <a:ea typeface="+mn-lt"/>
                <a:cs typeface="+mn-lt"/>
              </a:rPr>
              <a:t> и </a:t>
            </a:r>
            <a:r>
              <a:rPr lang="en-US" sz="1800" dirty="0" err="1">
                <a:ea typeface="+mn-lt"/>
                <a:cs typeface="+mn-lt"/>
              </a:rPr>
              <a:t>записи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теряются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повар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не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видит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переданный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заказ</a:t>
            </a:r>
            <a:r>
              <a:rPr lang="en-US" sz="1800" dirty="0">
                <a:ea typeface="+mn-lt"/>
                <a:cs typeface="+mn-lt"/>
              </a:rPr>
              <a:t>, </a:t>
            </a:r>
            <a:r>
              <a:rPr lang="en-US" sz="1800" dirty="0" err="1">
                <a:ea typeface="+mn-lt"/>
                <a:cs typeface="+mn-lt"/>
              </a:rPr>
              <a:t>официант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забывает</a:t>
            </a:r>
            <a:r>
              <a:rPr lang="en-US" sz="1800" dirty="0">
                <a:ea typeface="+mn-lt"/>
                <a:cs typeface="+mn-lt"/>
              </a:rPr>
              <a:t> о </a:t>
            </a:r>
            <a:r>
              <a:rPr lang="en-US" sz="1800" dirty="0" err="1">
                <a:ea typeface="+mn-lt"/>
                <a:cs typeface="+mn-lt"/>
              </a:rPr>
              <a:t>специальных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пожеланиях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гостя</a:t>
            </a:r>
            <a:r>
              <a:rPr lang="en-US" sz="1800" dirty="0">
                <a:ea typeface="+mn-lt"/>
                <a:cs typeface="+mn-lt"/>
              </a:rPr>
              <a:t>. Нет </a:t>
            </a:r>
            <a:r>
              <a:rPr lang="en-US" sz="1800" dirty="0" err="1">
                <a:ea typeface="+mn-lt"/>
                <a:cs typeface="+mn-lt"/>
              </a:rPr>
              <a:t>единой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истории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заказов</a:t>
            </a: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dirty="0" err="1">
                <a:ea typeface="+mn-lt"/>
                <a:cs typeface="+mn-lt"/>
              </a:rPr>
              <a:t>гостя</a:t>
            </a:r>
            <a:r>
              <a:rPr lang="en-US" sz="1800" dirty="0">
                <a:ea typeface="+mn-lt"/>
                <a:cs typeface="+mn-lt"/>
              </a:rPr>
              <a:t>. 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 </a:t>
            </a:r>
            <a:endParaRPr lang="en-US" sz="1800" dirty="0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7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6284" y="72730"/>
            <a:ext cx="7729728" cy="1188720"/>
          </a:xfrm>
        </p:spPr>
        <p:txBody>
          <a:bodyPr/>
          <a:lstStyle/>
          <a:p>
            <a:r>
              <a:rPr lang="ru-RU" dirty="0">
                <a:latin typeface="Calibri"/>
                <a:ea typeface="Calibri"/>
                <a:cs typeface="Calibri"/>
              </a:rPr>
              <a:t>Цели и задачи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06106" y="2225041"/>
            <a:ext cx="4592466" cy="40675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000" b="1" dirty="0">
                <a:latin typeface="Calibri"/>
                <a:ea typeface="Calibri"/>
                <a:cs typeface="Calibri"/>
              </a:rPr>
              <a:t>Цель проекта:</a:t>
            </a:r>
          </a:p>
          <a:p>
            <a:pPr>
              <a:buNone/>
            </a:pPr>
            <a:r>
              <a:rPr lang="ru-RU" sz="2000">
                <a:ea typeface="+mn-lt"/>
                <a:cs typeface="+mn-lt"/>
              </a:rPr>
              <a:t>Спроектировать информационную систему для автоматизации регистрации заказов гостей и управления деятельностью ресторана.</a:t>
            </a:r>
            <a:endParaRPr lang="ru-RU"/>
          </a:p>
          <a:p>
            <a:pPr>
              <a:buNone/>
            </a:pPr>
            <a:endParaRPr lang="ru-RU"/>
          </a:p>
          <a:p>
            <a:pPr marL="0" indent="0">
              <a:buNone/>
            </a:pPr>
            <a:endParaRPr lang="ru-RU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475239" y="986791"/>
            <a:ext cx="7555653" cy="41783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1800" b="1" dirty="0">
                <a:latin typeface="Calibri"/>
                <a:ea typeface="Calibri"/>
                <a:cs typeface="Calibri"/>
              </a:rPr>
              <a:t>Задачи:</a:t>
            </a:r>
          </a:p>
          <a:p>
            <a:pPr>
              <a:buNone/>
            </a:pPr>
            <a:r>
              <a:rPr lang="ru-RU" sz="1800">
                <a:ea typeface="+mn-lt"/>
                <a:cs typeface="+mn-lt"/>
              </a:rPr>
              <a:t>Провести анализ предметной области «Ресторан».</a:t>
            </a:r>
            <a:endParaRPr lang="ru-RU"/>
          </a:p>
          <a:p>
            <a:pPr>
              <a:buNone/>
            </a:pPr>
            <a:endParaRPr lang="ru-RU"/>
          </a:p>
          <a:p>
            <a:pPr>
              <a:buNone/>
            </a:pPr>
            <a:r>
              <a:rPr lang="ru-RU" sz="1800">
                <a:ea typeface="+mn-lt"/>
                <a:cs typeface="+mn-lt"/>
              </a:rPr>
              <a:t>Разработать функциональные модели в нотациях IDEF0 и DFD.</a:t>
            </a:r>
            <a:endParaRPr lang="ru-RU"/>
          </a:p>
          <a:p>
            <a:pPr>
              <a:buNone/>
            </a:pPr>
            <a:endParaRPr lang="ru-RU"/>
          </a:p>
          <a:p>
            <a:pPr>
              <a:buNone/>
            </a:pPr>
            <a:r>
              <a:rPr lang="ru-RU" sz="1800">
                <a:ea typeface="+mn-lt"/>
                <a:cs typeface="+mn-lt"/>
              </a:rPr>
              <a:t>Построить UML-диаграммы (вариантов использования, деятельности, последовательности, классов).</a:t>
            </a:r>
            <a:endParaRPr lang="ru-RU"/>
          </a:p>
          <a:p>
            <a:pPr>
              <a:buNone/>
            </a:pPr>
            <a:endParaRPr lang="ru-RU"/>
          </a:p>
          <a:p>
            <a:pPr>
              <a:buNone/>
            </a:pPr>
            <a:r>
              <a:rPr lang="ru-RU" sz="1800">
                <a:ea typeface="+mn-lt"/>
                <a:cs typeface="+mn-lt"/>
              </a:rPr>
              <a:t>Создать концептуальную, логическую и физическую модели базы данных.</a:t>
            </a:r>
            <a:endParaRPr lang="ru-RU"/>
          </a:p>
          <a:p>
            <a:pPr>
              <a:buNone/>
            </a:pPr>
            <a:endParaRPr lang="ru-RU"/>
          </a:p>
          <a:p>
            <a:pPr>
              <a:buNone/>
            </a:pPr>
            <a:r>
              <a:rPr lang="ru-RU" sz="1800">
                <a:ea typeface="+mn-lt"/>
                <a:cs typeface="+mn-lt"/>
              </a:rPr>
              <a:t>Разработать техническое задание и эскизный проект веб-сайта.</a:t>
            </a:r>
            <a:endParaRPr lang="ru-RU"/>
          </a:p>
          <a:p>
            <a:pPr>
              <a:buNone/>
            </a:pPr>
            <a:endParaRPr lang="ru-RU"/>
          </a:p>
          <a:p>
            <a:pPr>
              <a:buNone/>
            </a:pPr>
            <a:r>
              <a:rPr lang="ru-RU" sz="1800">
                <a:ea typeface="+mn-lt"/>
                <a:cs typeface="+mn-lt"/>
              </a:rPr>
              <a:t>Составить руководство пользователя для всех категорий (гость, официант, администратор).</a:t>
            </a:r>
            <a:endParaRPr lang="ru-RU"/>
          </a:p>
          <a:p>
            <a:pPr>
              <a:buNone/>
            </a:pPr>
            <a:endParaRPr lang="ru-RU"/>
          </a:p>
          <a:p>
            <a:pPr marL="0" indent="0">
              <a:buNone/>
            </a:pPr>
            <a:endParaRPr lang="ru-RU" sz="1800" b="1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863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9"/>
          <p:cNvSpPr>
            <a:spLocks noGrp="1"/>
          </p:cNvSpPr>
          <p:nvPr>
            <p:ph type="body" idx="1"/>
          </p:nvPr>
        </p:nvSpPr>
        <p:spPr>
          <a:xfrm>
            <a:off x="2697" y="3208490"/>
            <a:ext cx="4827094" cy="3654394"/>
          </a:xfrm>
        </p:spPr>
        <p:txBody>
          <a:bodyPr>
            <a:normAutofit/>
          </a:bodyPr>
          <a:lstStyle/>
          <a:p>
            <a:r>
              <a:rPr lang="ru-RU" sz="2000">
                <a:ea typeface="+mn-lt"/>
                <a:cs typeface="+mn-lt"/>
              </a:rPr>
              <a:t>Деятельность ресторана по организации приема заказов гостей ведению расписания столов и учета заказов</a:t>
            </a:r>
            <a:endParaRPr lang="ru-RU"/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  </a:t>
            </a:r>
          </a:p>
          <a:p>
            <a:endParaRPr lang="ru-RU" sz="2000" dirty="0"/>
          </a:p>
          <a:p>
            <a:endParaRPr lang="ru-RU" sz="2000" dirty="0"/>
          </a:p>
          <a:p>
            <a:endParaRPr lang="ru-RU" sz="2000" dirty="0"/>
          </a:p>
        </p:txBody>
      </p:sp>
      <p:sp>
        <p:nvSpPr>
          <p:cNvPr id="13" name="Объект 12"/>
          <p:cNvSpPr>
            <a:spLocks noGrp="1"/>
          </p:cNvSpPr>
          <p:nvPr>
            <p:ph sz="quarter" idx="4"/>
          </p:nvPr>
        </p:nvSpPr>
        <p:spPr>
          <a:xfrm>
            <a:off x="6923423" y="2834640"/>
            <a:ext cx="4416770" cy="25967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000">
                <a:ea typeface="+mn-lt"/>
                <a:cs typeface="+mn-lt"/>
              </a:rPr>
              <a:t>Процесс онлайн-регистрации заказа, автоматического управления столами (бронированием) и формирования электронного чека/истории заказов с использованием веб-интерфейса.</a:t>
            </a:r>
            <a:endParaRPr lang="ru-RU"/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3"/>
          </p:nvPr>
        </p:nvSpPr>
        <p:spPr>
          <a:xfrm>
            <a:off x="6996684" y="2153413"/>
            <a:ext cx="4270248" cy="704087"/>
          </a:xfrm>
        </p:spPr>
        <p:txBody>
          <a:bodyPr>
            <a:normAutofit/>
          </a:bodyPr>
          <a:lstStyle/>
          <a:p>
            <a:r>
              <a:rPr lang="ru-RU" sz="2000" dirty="0"/>
              <a:t>Предмет исследования: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Объект и предмет исследования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582DF8-8952-E012-B815-E897FAC8E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90" y="2293328"/>
            <a:ext cx="6526940" cy="3134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/>
              <a:t>Обьект</a:t>
            </a:r>
          </a:p>
        </p:txBody>
      </p:sp>
    </p:spTree>
    <p:extLst>
      <p:ext uri="{BB962C8B-B14F-4D97-AF65-F5344CB8AC3E}">
        <p14:creationId xmlns:p14="http://schemas.microsoft.com/office/powerpoint/2010/main" val="344277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89927"/>
            <a:ext cx="7729728" cy="1188720"/>
          </a:xfrm>
        </p:spPr>
        <p:txBody>
          <a:bodyPr>
            <a:normAutofit/>
          </a:bodyPr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Контекстная </a:t>
            </a:r>
            <a:r>
              <a:rPr lang="en-US" dirty="0">
                <a:latin typeface="Calibri"/>
                <a:ea typeface="Calibri"/>
                <a:cs typeface="Calibri"/>
              </a:rPr>
              <a:t> </a:t>
            </a:r>
            <a:r>
              <a:rPr lang="ru-RU" dirty="0">
                <a:latin typeface="Calibri"/>
                <a:ea typeface="Calibri"/>
                <a:cs typeface="Calibri"/>
              </a:rPr>
              <a:t>Диаграмма </a:t>
            </a:r>
            <a:r>
              <a:rPr lang="en-US">
                <a:latin typeface="Calibri"/>
                <a:ea typeface="Calibri"/>
                <a:cs typeface="Calibri"/>
              </a:rPr>
              <a:t>idef0 </a:t>
            </a:r>
            <a:endParaRPr lang="ru-RU">
              <a:latin typeface="Calibri"/>
              <a:ea typeface="Calibri"/>
              <a:cs typeface="Calibri"/>
            </a:endParaRPr>
          </a:p>
        </p:txBody>
      </p:sp>
      <p:pic>
        <p:nvPicPr>
          <p:cNvPr id="5" name="Рисунок 4" descr="Изображение выглядит как текст, снимок экрана, диаграмма, астроном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DD90E9-8AC0-7BD7-2A98-9EFC46FB2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8" y="1712383"/>
            <a:ext cx="93821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0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7C57E-F57F-EE1D-E9BD-B09E38BB2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Декомпозиция диаграммы idef0</a:t>
            </a:r>
          </a:p>
        </p:txBody>
      </p:sp>
      <p:pic>
        <p:nvPicPr>
          <p:cNvPr id="4" name="Объект 3" descr="Изображение выглядит как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E7C8905-20F3-88A6-68DD-54EBA5087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891" y="1825625"/>
            <a:ext cx="71002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82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13573" y="529264"/>
            <a:ext cx="7729728" cy="1188720"/>
          </a:xfrm>
        </p:spPr>
        <p:txBody>
          <a:bodyPr>
            <a:normAutofit/>
          </a:bodyPr>
          <a:lstStyle/>
          <a:p>
            <a:r>
              <a:rPr lang="ru-RU">
                <a:latin typeface="Calibri"/>
                <a:ea typeface="Calibri"/>
                <a:cs typeface="Calibri"/>
              </a:rPr>
              <a:t>Контекстная ДИАГРАММА DFD 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3" name="Рисунок 2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5459FD-ADDC-8180-57FB-01C7C9F91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683" y="2160922"/>
            <a:ext cx="7981950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5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-10800000" flipV="1">
            <a:off x="389364" y="2695297"/>
            <a:ext cx="4019833" cy="147313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ДЕКОМПОЗИЦИЯ ДИАГРАММЫ </a:t>
            </a:r>
            <a:r>
              <a:rPr lang="en-US" dirty="0">
                <a:latin typeface="Calibri"/>
                <a:ea typeface="Calibri"/>
                <a:cs typeface="Calibri"/>
              </a:rPr>
              <a:t>DFD</a:t>
            </a:r>
            <a:r>
              <a:rPr lang="ru-RU" dirty="0">
                <a:latin typeface="Calibri"/>
                <a:ea typeface="Calibri"/>
                <a:cs typeface="Calibri"/>
              </a:rPr>
              <a:t> (1ур.)</a:t>
            </a:r>
          </a:p>
        </p:txBody>
      </p:sp>
      <p:pic>
        <p:nvPicPr>
          <p:cNvPr id="4" name="Рисунок 3" descr="Изображение выглядит как текст, диаграмма, снимок экран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419153C-7489-A661-C6E3-F61B61A42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071" y="3260"/>
            <a:ext cx="7404435" cy="685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06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9513" y="355092"/>
            <a:ext cx="7729728" cy="1188720"/>
          </a:xfrm>
        </p:spPr>
        <p:txBody>
          <a:bodyPr/>
          <a:lstStyle/>
          <a:p>
            <a:r>
              <a:rPr lang="ru-RU" dirty="0">
                <a:latin typeface="Calibri"/>
                <a:ea typeface="Calibri"/>
                <a:cs typeface="Calibri"/>
              </a:rPr>
              <a:t>Техническое задание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5930960" y="1332355"/>
            <a:ext cx="5704114" cy="5630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ru-RU" sz="2000" b="1">
                <a:ea typeface="+mn-lt"/>
                <a:cs typeface="+mn-lt"/>
              </a:rPr>
              <a:t>Функциональные</a:t>
            </a:r>
            <a:r>
              <a:rPr lang="ru-RU" sz="2000" dirty="0">
                <a:ea typeface="+mn-lt"/>
                <a:cs typeface="+mn-lt"/>
              </a:rPr>
              <a:t> </a:t>
            </a:r>
            <a:r>
              <a:rPr lang="ru-RU" sz="2000" b="1">
                <a:ea typeface="+mn-lt"/>
                <a:cs typeface="+mn-lt"/>
              </a:rPr>
              <a:t>требования</a:t>
            </a:r>
            <a:r>
              <a:rPr lang="ru-RU" sz="2000">
                <a:ea typeface="+mn-lt"/>
                <a:cs typeface="+mn-lt"/>
              </a:rPr>
              <a:t>: Для гостя: онлайн-регистрация заказа, просмотр свободных столов (бронирование), личный кабинет, история заказов, электронная история заказов (чеки), скачивание фискального чека.  Для официанта: просмотр занятости столов, доступ к заказам гостей, внесение заказа и особых пожеланий, оформление фискального чека, отметка статуса заказа (принят / готов / выдан).  Для администратора: управление сотрудниками (официантами, поварами) и блюдами (меню), формирование расписания работы столов / бронирований, просмотр всех заказов, отчёты по выручке и загрузке залов.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34F13-66FD-4617-D6EC-93532188D922}"/>
              </a:ext>
            </a:extLst>
          </p:cNvPr>
          <p:cNvSpPr txBox="1"/>
          <p:nvPr/>
        </p:nvSpPr>
        <p:spPr>
          <a:xfrm>
            <a:off x="243417" y="1915583"/>
            <a:ext cx="5249334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 ​</a:t>
            </a:r>
            <a:r>
              <a:rPr lang="en-US" dirty="0" err="1"/>
              <a:t>Автоматизация регистрации</a:t>
            </a:r>
            <a:r>
              <a:rPr lang="en-US" dirty="0"/>
              <a:t> </a:t>
            </a:r>
            <a:r>
              <a:rPr lang="en-US" dirty="0" err="1"/>
              <a:t>заказов</a:t>
            </a:r>
            <a:r>
              <a:rPr lang="en-US" dirty="0"/>
              <a:t> </a:t>
            </a:r>
            <a:r>
              <a:rPr lang="en-US" dirty="0" err="1"/>
              <a:t>гостей</a:t>
            </a:r>
            <a:r>
              <a:rPr lang="en-US" dirty="0"/>
              <a:t>,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столами</a:t>
            </a:r>
            <a:r>
              <a:rPr lang="en-US" dirty="0"/>
              <a:t> (</a:t>
            </a:r>
            <a:r>
              <a:rPr lang="en-US" dirty="0" err="1"/>
              <a:t>бронированием</a:t>
            </a:r>
            <a:r>
              <a:rPr lang="en-US" dirty="0"/>
              <a:t>), </a:t>
            </a:r>
            <a:r>
              <a:rPr lang="en-US" dirty="0" err="1"/>
              <a:t>ведения</a:t>
            </a:r>
            <a:r>
              <a:rPr lang="en-US" dirty="0"/>
              <a:t> </a:t>
            </a:r>
            <a:r>
              <a:rPr lang="en-US" dirty="0" err="1"/>
              <a:t>электронной</a:t>
            </a:r>
            <a:r>
              <a:rPr lang="en-US" dirty="0"/>
              <a:t> </a:t>
            </a:r>
            <a:r>
              <a:rPr lang="en-US" dirty="0" err="1"/>
              <a:t>истории</a:t>
            </a:r>
            <a:r>
              <a:rPr lang="en-US" dirty="0"/>
              <a:t> </a:t>
            </a:r>
            <a:r>
              <a:rPr lang="en-US" dirty="0" err="1"/>
              <a:t>заказов</a:t>
            </a:r>
            <a:r>
              <a:rPr lang="en-US" dirty="0"/>
              <a:t> и </a:t>
            </a:r>
            <a:r>
              <a:rPr lang="en-US" dirty="0" err="1"/>
              <a:t>выдачи</a:t>
            </a:r>
            <a:r>
              <a:rPr lang="en-US" dirty="0"/>
              <a:t> </a:t>
            </a:r>
            <a:r>
              <a:rPr lang="en-US" dirty="0" err="1"/>
              <a:t>фискального</a:t>
            </a:r>
            <a:r>
              <a:rPr lang="en-US" dirty="0"/>
              <a:t> </a:t>
            </a:r>
            <a:r>
              <a:rPr lang="en-US" dirty="0" err="1"/>
              <a:t>чека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веб-сайт</a:t>
            </a:r>
            <a:r>
              <a:rPr lang="en-US" dirty="0"/>
              <a:t>. ​ ​ ​ ​ ​ Этапы </a:t>
            </a:r>
            <a:r>
              <a:rPr lang="en-US" dirty="0" err="1"/>
              <a:t>разработки</a:t>
            </a:r>
            <a:r>
              <a:rPr lang="en-US" dirty="0"/>
              <a:t>: ​ ​ </a:t>
            </a:r>
            <a:r>
              <a:rPr lang="en-US" dirty="0" err="1"/>
              <a:t>Анализ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и </a:t>
            </a:r>
            <a:r>
              <a:rPr lang="en-US" dirty="0" err="1"/>
              <a:t>проектирование</a:t>
            </a:r>
            <a:r>
              <a:rPr lang="en-US" dirty="0"/>
              <a:t> ​ ​ </a:t>
            </a:r>
            <a:r>
              <a:rPr lang="en-US" dirty="0" err="1"/>
              <a:t>Разработка</a:t>
            </a:r>
            <a:r>
              <a:rPr lang="en-US" dirty="0"/>
              <a:t> </a:t>
            </a:r>
            <a:r>
              <a:rPr lang="en-US" dirty="0" err="1"/>
              <a:t>базы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​ ​ Реализация </a:t>
            </a:r>
            <a:r>
              <a:rPr lang="en-US" dirty="0" err="1"/>
              <a:t>серверной</a:t>
            </a:r>
            <a:r>
              <a:rPr lang="en-US" dirty="0"/>
              <a:t> и </a:t>
            </a:r>
            <a:r>
              <a:rPr lang="en-US" dirty="0" err="1"/>
              <a:t>клиентской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​ ​ </a:t>
            </a:r>
            <a:r>
              <a:rPr lang="en-US" dirty="0" err="1"/>
              <a:t>Тестирование</a:t>
            </a:r>
            <a:r>
              <a:rPr lang="en-US" dirty="0"/>
              <a:t> и </a:t>
            </a:r>
            <a:r>
              <a:rPr lang="en-US" dirty="0" err="1"/>
              <a:t>отладка</a:t>
            </a:r>
            <a:r>
              <a:rPr lang="en-US" dirty="0"/>
              <a:t> ​ ​ </a:t>
            </a:r>
            <a:r>
              <a:rPr lang="en-US" dirty="0" err="1"/>
              <a:t>Внедрение</a:t>
            </a:r>
            <a:r>
              <a:rPr lang="en-US" dirty="0"/>
              <a:t> и </a:t>
            </a:r>
            <a:r>
              <a:rPr lang="en-US" dirty="0" err="1"/>
              <a:t>сопровождение</a:t>
            </a:r>
            <a:r>
              <a:rPr lang="en-US" dirty="0"/>
              <a:t> ​ ​</a:t>
            </a: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Этапы </a:t>
            </a:r>
            <a:r>
              <a:rPr lang="en-US" dirty="0" err="1">
                <a:ea typeface="+mn-lt"/>
                <a:cs typeface="+mn-lt"/>
              </a:rPr>
              <a:t>разработки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Анализ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требований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проектирование</a:t>
            </a: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Разработка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базы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данных</a:t>
            </a:r>
            <a:r>
              <a:rPr lang="en-US" dirty="0">
                <a:ea typeface="+mn-lt"/>
                <a:cs typeface="+mn-lt"/>
              </a:rPr>
              <a:t>  Реализация </a:t>
            </a:r>
            <a:r>
              <a:rPr lang="en-US" dirty="0" err="1">
                <a:ea typeface="+mn-lt"/>
                <a:cs typeface="+mn-lt"/>
              </a:rPr>
              <a:t>серверной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клиентской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части</a:t>
            </a:r>
            <a:r>
              <a:rPr lang="en-US" dirty="0">
                <a:ea typeface="+mn-lt"/>
                <a:cs typeface="+mn-lt"/>
              </a:rPr>
              <a:t>  Тестирование и </a:t>
            </a:r>
            <a:r>
              <a:rPr lang="en-US" dirty="0" err="1">
                <a:ea typeface="+mn-lt"/>
                <a:cs typeface="+mn-lt"/>
              </a:rPr>
              <a:t>отладка</a:t>
            </a: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Внедрение</a:t>
            </a:r>
            <a:r>
              <a:rPr lang="en-US" dirty="0">
                <a:ea typeface="+mn-lt"/>
                <a:cs typeface="+mn-lt"/>
              </a:rPr>
              <a:t> и </a:t>
            </a:r>
            <a:r>
              <a:rPr lang="en-US" dirty="0" err="1">
                <a:ea typeface="+mn-lt"/>
                <a:cs typeface="+mn-lt"/>
              </a:rPr>
              <a:t>сопровождение</a:t>
            </a:r>
            <a:endParaRPr lang="en-US" dirty="0" err="1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3D01CFB-3303-C04F-32B4-034D7ABD4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5534" y="1328209"/>
            <a:ext cx="4472516" cy="48487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b="1"/>
              <a:t>Основная</a:t>
            </a:r>
            <a:r>
              <a:rPr lang="ru-RU" dirty="0"/>
              <a:t> </a:t>
            </a:r>
            <a:r>
              <a:rPr lang="ru-RU" b="1"/>
              <a:t>цель</a:t>
            </a:r>
            <a:r>
              <a:rPr lang="ru-RU"/>
              <a:t> </a:t>
            </a:r>
            <a:r>
              <a:rPr lang="ru-RU" b="1"/>
              <a:t>ис</a:t>
            </a:r>
          </a:p>
        </p:txBody>
      </p:sp>
    </p:spTree>
    <p:extLst>
      <p:ext uri="{BB962C8B-B14F-4D97-AF65-F5344CB8AC3E}">
        <p14:creationId xmlns:p14="http://schemas.microsoft.com/office/powerpoint/2010/main" val="2349850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12990" y="558409"/>
            <a:ext cx="5489448" cy="139387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alibri"/>
                <a:ea typeface="Calibri"/>
                <a:cs typeface="Calibri"/>
              </a:rPr>
              <a:t>UML диаграмма вариантов использования (UseCase)</a:t>
            </a:r>
          </a:p>
        </p:txBody>
      </p:sp>
      <p:pic>
        <p:nvPicPr>
          <p:cNvPr id="4" name="Рисунок 3" descr="Изображение выглядит как текст, снимок экрана, диаграмм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4DA44E-3648-2A43-74F9-B59D31FD8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67" y="2618846"/>
            <a:ext cx="71628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0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58199" y="665344"/>
            <a:ext cx="4486656" cy="1141497"/>
          </a:xfrm>
        </p:spPr>
        <p:txBody>
          <a:bodyPr>
            <a:normAutofit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деятельности (</a:t>
            </a:r>
            <a:r>
              <a:rPr lang="en-US" dirty="0"/>
              <a:t>Activity)</a:t>
            </a:r>
            <a:endParaRPr lang="ru-RU" dirty="0"/>
          </a:p>
        </p:txBody>
      </p:sp>
      <p:pic>
        <p:nvPicPr>
          <p:cNvPr id="4" name="Рисунок 3" descr="Изображение выглядит как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E8A24A-FD2D-1241-2ADB-E7CCE8E90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6655"/>
            <a:ext cx="12192000" cy="336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39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44214" y="2858250"/>
            <a:ext cx="4486656" cy="1141497"/>
          </a:xfrm>
        </p:spPr>
        <p:txBody>
          <a:bodyPr>
            <a:normAutofit fontScale="90000"/>
          </a:bodyPr>
          <a:lstStyle/>
          <a:p>
            <a:r>
              <a:rPr lang="en-US" dirty="0"/>
              <a:t>UML </a:t>
            </a:r>
            <a:r>
              <a:rPr lang="ru-RU" dirty="0"/>
              <a:t>диаграмма последовательности (</a:t>
            </a:r>
            <a:r>
              <a:rPr lang="en-US" dirty="0"/>
              <a:t>Sequence)</a:t>
            </a:r>
            <a:endParaRPr lang="ru-RU" dirty="0"/>
          </a:p>
        </p:txBody>
      </p:sp>
      <p:pic>
        <p:nvPicPr>
          <p:cNvPr id="3" name="Рисунок 2" descr="Изображение выглядит как снимок экрана, текст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8EE6312-1797-CC17-D8FF-F48A615BA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37" y="0"/>
            <a:ext cx="5593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4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372509"/>
            <a:ext cx="7729728" cy="1188720"/>
          </a:xfrm>
        </p:spPr>
        <p:txBody>
          <a:bodyPr/>
          <a:lstStyle/>
          <a:p>
            <a:r>
              <a:rPr lang="en-US" dirty="0"/>
              <a:t>UML </a:t>
            </a:r>
            <a:r>
              <a:rPr lang="ru-RU" dirty="0"/>
              <a:t>диаграмма классов (</a:t>
            </a:r>
            <a:r>
              <a:rPr lang="en-US" dirty="0"/>
              <a:t>Class)</a:t>
            </a: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A6D61F-855A-2615-3332-63B989CE0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9" y="2070100"/>
            <a:ext cx="118967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32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FF620-B654-4FF4-AC04-C21E87E2A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FD04C-9B9C-77F6-9F98-10D6550A5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2509"/>
            <a:ext cx="7729728" cy="1188720"/>
          </a:xfrm>
        </p:spPr>
        <p:txBody>
          <a:bodyPr/>
          <a:lstStyle/>
          <a:p>
            <a:r>
              <a:rPr lang="ru-RU" dirty="0"/>
              <a:t>Концептуальная модель данных</a:t>
            </a:r>
          </a:p>
        </p:txBody>
      </p:sp>
      <p:pic>
        <p:nvPicPr>
          <p:cNvPr id="4" name="Рисунок 3" descr="Изображение выглядит как снимок экрана, текст, диаграмм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9470078-2E31-DCA2-15F2-D4F86736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389" y="973666"/>
            <a:ext cx="6162972" cy="588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959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433469"/>
            <a:ext cx="7729728" cy="1188720"/>
          </a:xfrm>
        </p:spPr>
        <p:txBody>
          <a:bodyPr/>
          <a:lstStyle/>
          <a:p>
            <a:r>
              <a:rPr lang="ru-RU" dirty="0"/>
              <a:t>ЛОГИЧЕСКАЯ МОДЕЛЬ ДАННЫХ</a:t>
            </a:r>
          </a:p>
        </p:txBody>
      </p:sp>
      <p:pic>
        <p:nvPicPr>
          <p:cNvPr id="4" name="Рисунок 3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48CCA5-74CC-DFD0-2704-6BE69D836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567" y="2291821"/>
            <a:ext cx="9347200" cy="457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94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EFD5CE-070F-A11E-B118-56FF7C504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Физическая модель данных</a:t>
            </a:r>
            <a:endParaRPr lang="ru-RU" dirty="0"/>
          </a:p>
        </p:txBody>
      </p:sp>
      <p:pic>
        <p:nvPicPr>
          <p:cNvPr id="7" name="Объект 6" descr="Изображение выглядит как текст, снимок экрана, число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CF4CAD-7BDF-3528-A7FD-FE09243E7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001" y="1825625"/>
            <a:ext cx="92391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89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31136" y="424760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4" name="Рисунок 3" descr="Изображение выглядит как текст, снимок экрана, Цифровая сбор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609BE7E-439A-15D7-F9A3-C8F5C6B20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07" y="1620156"/>
            <a:ext cx="9329616" cy="513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78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2231136" y="608700"/>
            <a:ext cx="7729728" cy="118872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pic>
        <p:nvPicPr>
          <p:cNvPr id="3" name="Рисунок 2" descr="Изображение выглядит как текст, Быстрое питание, еда, блюд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0EFD2C-C4C6-D50F-6E44-8EDDC78BA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10" y="3712307"/>
            <a:ext cx="5596820" cy="3145693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C237AA-E3DD-F378-9F21-6FE083442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970" y="1641230"/>
            <a:ext cx="6095752" cy="358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92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61" y="-1089"/>
            <a:ext cx="7729728" cy="1188720"/>
          </a:xfrm>
        </p:spPr>
        <p:txBody>
          <a:bodyPr/>
          <a:lstStyle/>
          <a:p>
            <a:r>
              <a:rPr lang="ru-RU" dirty="0">
                <a:latin typeface="Calibri"/>
                <a:ea typeface="Calibri"/>
                <a:cs typeface="Calibri"/>
              </a:rPr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52098" y="76095"/>
            <a:ext cx="6522994" cy="668157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ru-RU" sz="1200">
                <a:ea typeface="+mn-lt"/>
                <a:cs typeface="+mn-lt"/>
              </a:rPr>
              <a:t>В ходе выполнения курсового проекта была спроектирована информационная система для автоматизации регистрации заказов и управления деятельностью ресторана.</a:t>
            </a:r>
            <a:endParaRPr lang="ru-RU" sz="1200" dirty="0"/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>
                <a:ea typeface="+mn-lt"/>
                <a:cs typeface="+mn-lt"/>
              </a:rPr>
              <a:t>Решены следующие задачи:</a:t>
            </a:r>
            <a:endParaRPr lang="ru-RU" sz="1200" dirty="0"/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>
                <a:ea typeface="+mn-lt"/>
                <a:cs typeface="+mn-lt"/>
              </a:rPr>
              <a:t>Проведён анализ предметной области, выявлены основные сущности (гость, заказ, меню, чек, официант, повар) и категории пользователей (гость, официант, администратор, повар).</a:t>
            </a:r>
            <a:endParaRPr lang="ru-RU" sz="1200" dirty="0"/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>
                <a:ea typeface="+mn-lt"/>
                <a:cs typeface="+mn-lt"/>
              </a:rPr>
              <a:t>Разработаны функциональные модели в нотациях IDEF0 и DFD, показавшие преимущества автоматизации (сокращение времени приёма заказа, исключение ошибок расчёта, передача заказа на кухню в реальном времени).</a:t>
            </a:r>
            <a:endParaRPr lang="ru-RU" sz="1200" dirty="0"/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>
                <a:ea typeface="+mn-lt"/>
                <a:cs typeface="+mn-lt"/>
              </a:rPr>
              <a:t>Построены UML-диаграммы (вариантов использования, деятельности, последовательности, классов), детализирующие структуру и поведение системы.</a:t>
            </a:r>
            <a:endParaRPr lang="ru-RU" sz="1200" dirty="0"/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>
                <a:ea typeface="+mn-lt"/>
                <a:cs typeface="+mn-lt"/>
              </a:rPr>
              <a:t>Созданы концептуальная, логическая и физическая модели базы данных для MySQL (таблицы: Guest, Employee, RestaurantOrder, Menu, Receipt, ReceiptItem, Notification).</a:t>
            </a:r>
            <a:endParaRPr lang="ru-RU" sz="1200" dirty="0"/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>
                <a:ea typeface="+mn-lt"/>
                <a:cs typeface="+mn-lt"/>
              </a:rPr>
              <a:t>Разработано техническое задание, эскизный проект веб-сайта и руководство пользователя для трёх категорий (гость, официант/администратор, повар).</a:t>
            </a:r>
            <a:endParaRPr lang="ru-RU" sz="1200" dirty="0"/>
          </a:p>
          <a:p>
            <a:pPr>
              <a:buNone/>
            </a:pPr>
            <a:endParaRPr lang="ru-RU" sz="1200" dirty="0"/>
          </a:p>
          <a:p>
            <a:pPr>
              <a:buNone/>
            </a:pPr>
            <a:r>
              <a:rPr lang="ru-RU" sz="1200">
                <a:ea typeface="+mn-lt"/>
                <a:cs typeface="+mn-lt"/>
              </a:rPr>
              <a:t>Результат: спроектированная ИС позволяет гостю оформить заказ за 1–2 минуты, получить автоматически рассчитанный чек и уведомление о готовности; официанту — управлять заказами и передавать их на кухню; повару — видеть актуальные заказы на кухонном терминале и отмечать готовность; администратору — управлять меню, сотрудниками и получать отчёты по выручке и загрузке залов. Система соответствует требованиям законодательства о персональных данных (152-ФЗ) и обязательному cookie-согласию.</a:t>
            </a:r>
            <a:endParaRPr lang="ru-RU" sz="1200" dirty="0"/>
          </a:p>
          <a:p>
            <a:pPr>
              <a:buNone/>
            </a:pPr>
            <a:endParaRPr lang="ru-RU" sz="1200" dirty="0"/>
          </a:p>
          <a:p>
            <a:pPr marL="0" indent="0">
              <a:buNone/>
            </a:pPr>
            <a:endParaRPr lang="ru-RU" sz="1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4063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248553" y="2697698"/>
            <a:ext cx="7729728" cy="1188720"/>
          </a:xfrm>
        </p:spPr>
        <p:txBody>
          <a:bodyPr/>
          <a:lstStyle/>
          <a:p>
            <a:r>
              <a:rPr lang="ru-RU" dirty="0">
                <a:latin typeface="Calibri"/>
                <a:ea typeface="Calibri"/>
                <a:cs typeface="Calibri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591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254</TotalTime>
  <Words>929</Words>
  <Application>Microsoft Office PowerPoint</Application>
  <PresentationFormat>Широкоэкранный</PresentationFormat>
  <Paragraphs>82</Paragraphs>
  <Slides>21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Office Theme</vt:lpstr>
      <vt:lpstr>Презентация PowerPoint</vt:lpstr>
      <vt:lpstr>Описание предметной области</vt:lpstr>
      <vt:lpstr>Проблематика</vt:lpstr>
      <vt:lpstr>Цели и задачи</vt:lpstr>
      <vt:lpstr>Объект и предмет исследования</vt:lpstr>
      <vt:lpstr>Контекстная  Диаграмма idef0 </vt:lpstr>
      <vt:lpstr>Декомпозиция диаграммы idef0</vt:lpstr>
      <vt:lpstr>Контекстная ДИАГРАММА DFD </vt:lpstr>
      <vt:lpstr>ДЕКОМПОЗИЦИЯ ДИАГРАММЫ DFD (1ур.)</vt:lpstr>
      <vt:lpstr>Техническое задание</vt:lpstr>
      <vt:lpstr>UML диаграмма вариантов использования (UseCase)</vt:lpstr>
      <vt:lpstr>UML диаграмма деятельности (Activity)</vt:lpstr>
      <vt:lpstr>UML диаграмма последовательности (Sequence)</vt:lpstr>
      <vt:lpstr>UML диаграмма классов (Class)</vt:lpstr>
      <vt:lpstr>Концептуальная модель данных</vt:lpstr>
      <vt:lpstr>ЛОГИЧЕСКАЯ МОДЕЛЬ ДАННЫХ</vt:lpstr>
      <vt:lpstr>Физическая модель данных</vt:lpstr>
      <vt:lpstr>ПОЛЬЗОВАТЕЛЬСКИЙ ИНТЕРФЕЙС</vt:lpstr>
      <vt:lpstr>ПОЛЬЗОВАТЕЛЬСКИЙ ИНТЕРФЕЙС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Student</dc:creator>
  <cp:lastModifiedBy>Ryzen</cp:lastModifiedBy>
  <cp:revision>348</cp:revision>
  <dcterms:created xsi:type="dcterms:W3CDTF">2026-05-05T04:42:58Z</dcterms:created>
  <dcterms:modified xsi:type="dcterms:W3CDTF">2026-05-14T05:53:46Z</dcterms:modified>
</cp:coreProperties>
</file>